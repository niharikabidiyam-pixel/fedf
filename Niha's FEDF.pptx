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86" r:id="rId3"/>
    <p:sldId id="260" r:id="rId4"/>
    <p:sldId id="278" r:id="rId5"/>
    <p:sldId id="257" r:id="rId6"/>
    <p:sldId id="328" r:id="rId8"/>
    <p:sldId id="329" r:id="rId9"/>
    <p:sldId id="330" r:id="rId10"/>
    <p:sldId id="321" r:id="rId11"/>
    <p:sldId id="326" r:id="rId12"/>
    <p:sldId id="322" r:id="rId13"/>
    <p:sldId id="323" r:id="rId14"/>
    <p:sldId id="324" r:id="rId15"/>
    <p:sldId id="277" r:id="rId16"/>
    <p:sldId id="320" r:id="rId17"/>
    <p:sldId id="327" r:id="rId18"/>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6" d="100"/>
          <a:sy n="86" d="100"/>
        </p:scale>
        <p:origin x="1194" y="45"/>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hyperlink" Target="https://github.com/niharikabidiyam-pixel/Student-Attendance-Tracking-Management-System" TargetMode="Externa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295400"/>
            <a:ext cx="7848600" cy="1752600"/>
          </a:xfrm>
        </p:spPr>
        <p:txBody>
          <a:bodyPr>
            <a:normAutofit fontScale="90000"/>
          </a:bodyPr>
          <a:lstStyle/>
          <a:p>
            <a:pPr>
              <a:defRPr/>
            </a:pPr>
            <a:br>
              <a:rPr lang="en-US" sz="1800" b="0" dirty="0">
                <a:latin typeface="Times New Roman" panose="02020603050405020304" pitchFamily="18" charset="0"/>
                <a:cs typeface="Times New Roman" panose="02020603050405020304" pitchFamily="18" charset="0"/>
              </a:rPr>
            </a:br>
            <a:br>
              <a:rPr lang="en-US" sz="1800" b="0" dirty="0">
                <a:latin typeface="Times New Roman" panose="02020603050405020304" pitchFamily="18" charset="0"/>
                <a:cs typeface="Times New Roman" panose="02020603050405020304" pitchFamily="18" charset="0"/>
              </a:rPr>
            </a:br>
            <a:br>
              <a:rPr lang="en-US" sz="1800" b="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Department of Computer Science and Engineering</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r>
              <a:rPr lang="en-US" sz="2200" b="0" dirty="0">
                <a:latin typeface="Times New Roman" panose="02020603050405020304" pitchFamily="18" charset="0"/>
                <a:cs typeface="Times New Roman" panose="02020603050405020304" pitchFamily="18" charset="0"/>
              </a:rPr>
              <a:t>A</a:t>
            </a:r>
            <a:br>
              <a:rPr lang="en-US" sz="1800" b="0" dirty="0">
                <a:latin typeface="Times New Roman" panose="02020603050405020304" pitchFamily="18" charset="0"/>
                <a:cs typeface="Times New Roman" panose="02020603050405020304" pitchFamily="18" charset="0"/>
              </a:rPr>
            </a:br>
            <a:r>
              <a:rPr lang="en-US" sz="3100" b="1" dirty="0">
                <a:latin typeface="Times New Roman" panose="02020603050405020304" pitchFamily="18" charset="0"/>
                <a:cs typeface="Times New Roman" panose="02020603050405020304" pitchFamily="18" charset="0"/>
              </a:rPr>
              <a:t>Project Review Meeting  </a:t>
            </a:r>
            <a:br>
              <a:rPr lang="en-US" sz="2200" dirty="0">
                <a:latin typeface="Times New Roman" panose="02020603050405020304" pitchFamily="18" charset="0"/>
                <a:cs typeface="Times New Roman" panose="02020603050405020304" pitchFamily="18" charset="0"/>
              </a:rPr>
            </a:br>
            <a:r>
              <a:rPr lang="en-US" sz="2200" b="0" dirty="0">
                <a:latin typeface="Times New Roman" panose="02020603050405020304" pitchFamily="18" charset="0"/>
                <a:cs typeface="Times New Roman" panose="02020603050405020304" pitchFamily="18" charset="0"/>
              </a:rPr>
              <a:t> on</a:t>
            </a:r>
            <a:br>
              <a:rPr lang="en-US" sz="2200" dirty="0">
                <a:latin typeface="Times New Roman" panose="02020603050405020304" pitchFamily="18" charset="0"/>
                <a:cs typeface="Times New Roman" panose="02020603050405020304" pitchFamily="18" charset="0"/>
              </a:rPr>
            </a:br>
            <a:r>
              <a:rPr lang="en-US" sz="2700" b="1" u="sng" dirty="0">
                <a:latin typeface="Times New Roman" panose="02020603050405020304" pitchFamily="18" charset="0"/>
                <a:cs typeface="Times New Roman" panose="02020603050405020304" pitchFamily="18" charset="0"/>
                <a:hlinkClick r:id="rId1"/>
              </a:rPr>
              <a:t>Student Attendance Tracking Management System</a:t>
            </a:r>
            <a:br>
              <a:rPr lang="en-IN" sz="2700" b="1" dirty="0"/>
            </a:br>
            <a:br>
              <a:rPr lang="en-IN" sz="3200" dirty="0"/>
            </a:br>
            <a:endParaRPr lang="en-US" sz="40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76200" y="3175192"/>
            <a:ext cx="9067800" cy="2501163"/>
          </a:xfrm>
        </p:spPr>
        <p:txBody>
          <a:bodyPr>
            <a:normAutofit fontScale="55000" lnSpcReduction="20000"/>
          </a:bodyPr>
          <a:lstStyle/>
          <a:p>
            <a:pPr>
              <a:lnSpc>
                <a:spcPct val="80000"/>
              </a:lnSpc>
              <a:defRPr/>
            </a:pPr>
            <a:br>
              <a:rPr lang="en-US" sz="4200" b="1" i="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4200" b="1" i="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4200" b="1" i="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l">
              <a:lnSpc>
                <a:spcPct val="80000"/>
              </a:lnSpc>
              <a:defRPr/>
            </a:pPr>
            <a:r>
              <a:rPr lang="en-GB" sz="2600" b="1" i="1" dirty="0">
                <a:solidFill>
                  <a:schemeClr val="tx1"/>
                </a:solidFill>
                <a:effectLst/>
                <a:latin typeface="Times New Roman" panose="02020603050405020304" pitchFamily="18" charset="0"/>
                <a:ea typeface="Times New Roman" panose="02020603050405020304" pitchFamily="18" charset="0"/>
              </a:rPr>
              <a:t>Under the guidance of : </a:t>
            </a:r>
            <a:r>
              <a:rPr lang="en-US" sz="2600" b="1" dirty="0" err="1">
                <a:solidFill>
                  <a:schemeClr val="tx1"/>
                </a:solidFill>
                <a:latin typeface="Times New Roman" panose="02020603050405020304" pitchFamily="18" charset="0"/>
                <a:cs typeface="Times New Roman" panose="02020603050405020304" pitchFamily="18" charset="0"/>
              </a:rPr>
              <a:t>NirmalaJyothi</a:t>
            </a:r>
            <a:r>
              <a:rPr lang="en-US" sz="2600" b="1" dirty="0">
                <a:solidFill>
                  <a:schemeClr val="tx1"/>
                </a:solidFill>
                <a:latin typeface="Times New Roman" panose="02020603050405020304" pitchFamily="18" charset="0"/>
                <a:cs typeface="Times New Roman" panose="02020603050405020304" pitchFamily="18" charset="0"/>
              </a:rPr>
              <a:t> </a:t>
            </a:r>
            <a:r>
              <a:rPr lang="en-US" sz="2600" b="1" dirty="0" err="1">
                <a:solidFill>
                  <a:schemeClr val="tx1"/>
                </a:solidFill>
                <a:latin typeface="Times New Roman" panose="02020603050405020304" pitchFamily="18" charset="0"/>
                <a:cs typeface="Times New Roman" panose="02020603050405020304" pitchFamily="18" charset="0"/>
              </a:rPr>
              <a:t>Narisetty</a:t>
            </a:r>
            <a:r>
              <a:rPr lang="en-US" sz="2600" b="1" dirty="0">
                <a:solidFill>
                  <a:schemeClr val="tx1"/>
                </a:solidFill>
                <a:latin typeface="Times New Roman" panose="02020603050405020304" pitchFamily="18" charset="0"/>
                <a:cs typeface="Times New Roman" panose="02020603050405020304" pitchFamily="18" charset="0"/>
              </a:rPr>
              <a:t> </a:t>
            </a:r>
            <a:endParaRPr lang="en-US" sz="2600" b="1" i="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r">
              <a:lnSpc>
                <a:spcPct val="80000"/>
              </a:lnSpc>
              <a:defRPr/>
            </a:pPr>
            <a:endParaRPr lang="en-US" sz="2100" b="1" dirty="0">
              <a:solidFill>
                <a:schemeClr val="tx1"/>
              </a:solidFill>
              <a:latin typeface="Times New Roman" panose="02020603050405020304" pitchFamily="18" charset="0"/>
              <a:cs typeface="Times New Roman" panose="02020603050405020304" pitchFamily="18" charset="0"/>
            </a:endParaRPr>
          </a:p>
          <a:p>
            <a:pPr algn="r">
              <a:lnSpc>
                <a:spcPct val="80000"/>
              </a:lnSpc>
              <a:defRPr/>
            </a:pPr>
            <a:br>
              <a:rPr lang="en-US" sz="2100" b="1" dirty="0">
                <a:solidFill>
                  <a:schemeClr val="tx1"/>
                </a:solidFill>
                <a:latin typeface="Times New Roman" panose="02020603050405020304" pitchFamily="18" charset="0"/>
                <a:cs typeface="Times New Roman" panose="02020603050405020304" pitchFamily="18" charset="0"/>
              </a:rPr>
            </a:br>
            <a:br>
              <a:rPr lang="en-US" sz="2100" b="1" dirty="0">
                <a:solidFill>
                  <a:schemeClr val="tx1"/>
                </a:solidFill>
                <a:latin typeface="Times New Roman" panose="02020603050405020304" pitchFamily="18" charset="0"/>
                <a:cs typeface="Times New Roman" panose="02020603050405020304" pitchFamily="18" charset="0"/>
              </a:rPr>
            </a:br>
            <a:br>
              <a:rPr lang="en-US" sz="2100" b="1" dirty="0">
                <a:solidFill>
                  <a:schemeClr val="tx1"/>
                </a:solidFill>
                <a:latin typeface="Times New Roman" panose="02020603050405020304" pitchFamily="18" charset="0"/>
                <a:cs typeface="Times New Roman" panose="02020603050405020304" pitchFamily="18" charset="0"/>
              </a:rPr>
            </a:br>
            <a:br>
              <a:rPr lang="en-US" sz="2100" b="1" dirty="0">
                <a:solidFill>
                  <a:schemeClr val="tx1"/>
                </a:solidFill>
                <a:latin typeface="Times New Roman" panose="02020603050405020304" pitchFamily="18" charset="0"/>
                <a:cs typeface="Times New Roman" panose="02020603050405020304" pitchFamily="18" charset="0"/>
              </a:rPr>
            </a:br>
            <a:br>
              <a:rPr lang="en-US" sz="2100" b="1" dirty="0">
                <a:solidFill>
                  <a:schemeClr val="tx1"/>
                </a:solidFill>
                <a:latin typeface="Times New Roman" panose="02020603050405020304" pitchFamily="18" charset="0"/>
                <a:cs typeface="Times New Roman" panose="02020603050405020304" pitchFamily="18" charset="0"/>
              </a:rPr>
            </a:br>
            <a:br>
              <a:rPr lang="en-US" sz="2100" b="1" dirty="0">
                <a:solidFill>
                  <a:schemeClr val="tx1"/>
                </a:solidFill>
                <a:latin typeface="Times New Roman" panose="02020603050405020304" pitchFamily="18" charset="0"/>
                <a:cs typeface="Times New Roman" panose="02020603050405020304" pitchFamily="18" charset="0"/>
              </a:rPr>
            </a:br>
            <a:br>
              <a:rPr lang="en-US" sz="2500" b="1" dirty="0">
                <a:solidFill>
                  <a:schemeClr val="tx1"/>
                </a:solidFill>
                <a:latin typeface="Times New Roman" panose="02020603050405020304" pitchFamily="18" charset="0"/>
                <a:cs typeface="Times New Roman" panose="02020603050405020304" pitchFamily="18" charset="0"/>
              </a:rPr>
            </a:br>
            <a:r>
              <a:rPr lang="en-US" sz="2500" b="1" dirty="0">
                <a:solidFill>
                  <a:schemeClr val="tx1"/>
                </a:solidFill>
                <a:latin typeface="Times New Roman" panose="02020603050405020304" pitchFamily="18" charset="0"/>
                <a:cs typeface="Times New Roman" panose="02020603050405020304" pitchFamily="18" charset="0"/>
              </a:rPr>
              <a:t>                                             By, </a:t>
            </a:r>
            <a:r>
              <a:rPr lang="en-US" sz="2500" b="1" dirty="0" err="1">
                <a:solidFill>
                  <a:schemeClr val="tx1"/>
                </a:solidFill>
                <a:latin typeface="Times New Roman" panose="02020603050405020304" pitchFamily="18" charset="0"/>
                <a:cs typeface="Times New Roman" panose="02020603050405020304" pitchFamily="18" charset="0"/>
              </a:rPr>
              <a:t>Sambareddy</a:t>
            </a:r>
            <a:r>
              <a:rPr lang="en-US" sz="2500" b="1" dirty="0">
                <a:solidFill>
                  <a:schemeClr val="tx1"/>
                </a:solidFill>
                <a:latin typeface="Times New Roman" panose="02020603050405020304" pitchFamily="18" charset="0"/>
                <a:cs typeface="Times New Roman" panose="02020603050405020304" pitchFamily="18" charset="0"/>
              </a:rPr>
              <a:t> Vennela   ID:2520080018</a:t>
            </a:r>
            <a:br>
              <a:rPr lang="en-US" sz="2500" b="1" dirty="0">
                <a:solidFill>
                  <a:schemeClr val="tx1"/>
                </a:solidFill>
                <a:latin typeface="Times New Roman" panose="02020603050405020304" pitchFamily="18" charset="0"/>
                <a:cs typeface="Times New Roman" panose="02020603050405020304" pitchFamily="18" charset="0"/>
              </a:rPr>
            </a:br>
            <a:r>
              <a:rPr lang="en-US" sz="2500" b="1" dirty="0">
                <a:solidFill>
                  <a:schemeClr val="tx1"/>
                </a:solidFill>
                <a:latin typeface="Times New Roman" panose="02020603050405020304" pitchFamily="18" charset="0"/>
                <a:cs typeface="Times New Roman" panose="02020603050405020304" pitchFamily="18" charset="0"/>
              </a:rPr>
              <a:t>                                                                                Sree Niharika               ID:2520030589</a:t>
            </a:r>
            <a:endParaRPr lang="en-US" sz="2500" b="1" dirty="0">
              <a:solidFill>
                <a:schemeClr val="tx1"/>
              </a:solidFill>
              <a:latin typeface="Times New Roman" panose="02020603050405020304" pitchFamily="18" charset="0"/>
              <a:cs typeface="Times New Roman" panose="02020603050405020304" pitchFamily="18" charset="0"/>
            </a:endParaRPr>
          </a:p>
          <a:p>
            <a:pPr marR="0" algn="r" eaLnBrk="1" hangingPunct="1">
              <a:lnSpc>
                <a:spcPct val="80000"/>
              </a:lnSpc>
              <a:defRPr/>
            </a:pPr>
            <a:endParaRPr lang="en-US" sz="2100" b="1" dirty="0">
              <a:solidFill>
                <a:schemeClr val="tx1"/>
              </a:solidFill>
              <a:latin typeface="Times New Roman" panose="02020603050405020304" pitchFamily="18" charset="0"/>
              <a:cs typeface="Times New Roman" panose="02020603050405020304" pitchFamily="18" charset="0"/>
            </a:endParaRPr>
          </a:p>
          <a:p>
            <a:pPr marR="0" eaLnBrk="1" hangingPunct="1">
              <a:lnSpc>
                <a:spcPct val="80000"/>
              </a:lnSpc>
              <a:defRPr/>
            </a:pPr>
            <a:r>
              <a:rPr lang="en-US" sz="2400" b="1" dirty="0">
                <a:solidFill>
                  <a:srgbClr val="0D0D0D"/>
                </a:solidFill>
                <a:latin typeface="Times New Roman" panose="02020603050405020304" pitchFamily="18" charset="0"/>
                <a:cs typeface="Times New Roman" panose="02020603050405020304" pitchFamily="18" charset="0"/>
              </a:rPr>
              <a:t>                                                </a:t>
            </a:r>
            <a:r>
              <a:rPr lang="en-US" sz="2400" dirty="0">
                <a:solidFill>
                  <a:srgbClr val="0D0D0D"/>
                </a:solidFill>
                <a:latin typeface="Times New Roman" panose="02020603050405020304" pitchFamily="18" charset="0"/>
                <a:cs typeface="Times New Roman" panose="02020603050405020304" pitchFamily="18" charset="0"/>
              </a:rPr>
              <a:t>                                                                          </a:t>
            </a:r>
            <a:endParaRPr lang="en-US" sz="2400" dirty="0">
              <a:solidFill>
                <a:srgbClr val="0D0D0D"/>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381000" y="5484931"/>
            <a:ext cx="8566245" cy="346826"/>
          </a:xfrm>
          <a:prstGeom prst="rect">
            <a:avLst/>
          </a:prstGeom>
          <a:noFill/>
        </p:spPr>
        <p:txBody>
          <a:bodyPr wrap="square">
            <a:spAutoFit/>
          </a:bodyPr>
          <a:lstStyle/>
          <a:p>
            <a:pPr marL="0" marR="0" algn="ctr">
              <a:lnSpc>
                <a:spcPct val="107000"/>
              </a:lnSpc>
              <a:spcBef>
                <a:spcPts val="1555"/>
              </a:spcBef>
              <a:spcAft>
                <a:spcPts val="800"/>
              </a:spcAft>
            </a:pP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4200" y="-146300"/>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i="1" dirty="0">
                <a:solidFill>
                  <a:srgbClr val="0070C0"/>
                </a:solidFill>
                <a:latin typeface="Times New Roman" panose="02020603050405020304" pitchFamily="18" charset="0"/>
                <a:cs typeface="Times New Roman" panose="02020603050405020304" pitchFamily="18" charset="0"/>
              </a:rPr>
              <a:t>Outline of the Presentation</a:t>
            </a:r>
            <a:endParaRPr lang="en-US" sz="2800" b="1" i="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447801"/>
            <a:ext cx="8839200" cy="4678363"/>
          </a:xfrm>
        </p:spPr>
        <p:txBody>
          <a:bodyPr>
            <a:normAutofit/>
          </a:bodyPr>
          <a:lstStyle/>
          <a:p>
            <a:r>
              <a:rPr lang="en-US" sz="2400" dirty="0">
                <a:latin typeface="Times New Roman" panose="02020603050405020304" pitchFamily="18" charset="0"/>
                <a:cs typeface="Times New Roman" panose="02020603050405020304" pitchFamily="18" charset="0"/>
              </a:rPr>
              <a:t>Abstract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Introduction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Problem Statement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Project Flow Diagram</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Objectives with Justification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Modules[Frontend web pages]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Expected Outcomes of the Proposed Work</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Conclusion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References</a:t>
            </a:r>
            <a:endParaRPr lang="en-US" sz="24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71499"/>
            <a:ext cx="8229600" cy="11430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Abstract</a:t>
            </a:r>
            <a:endParaRPr lang="en-US" sz="2800" dirty="0"/>
          </a:p>
        </p:txBody>
      </p:sp>
      <p:sp>
        <p:nvSpPr>
          <p:cNvPr id="5" name="Content Placeholder 4"/>
          <p:cNvSpPr>
            <a:spLocks noGrp="1"/>
          </p:cNvSpPr>
          <p:nvPr>
            <p:ph idx="1"/>
          </p:nvPr>
        </p:nvSpPr>
        <p:spPr>
          <a:xfrm>
            <a:off x="-1385" y="1676400"/>
            <a:ext cx="9144000" cy="5715000"/>
          </a:xfrm>
        </p:spPr>
        <p:txBody>
          <a:bodyPr>
            <a:normAutofit/>
          </a:bodyPr>
          <a:lstStyle/>
          <a:p>
            <a:r>
              <a:rPr lang="en-IN" sz="1700" dirty="0"/>
              <a:t>A </a:t>
            </a:r>
            <a:r>
              <a:rPr lang="en-IN" sz="1700" b="1" dirty="0"/>
              <a:t>Smart Student Attendance Management System</a:t>
            </a:r>
            <a:r>
              <a:rPr lang="en-IN" sz="1700" dirty="0"/>
              <a:t> is an advanced digital solution designed to automate and simplify the process of recording and managing student attendance in educational institutions. Traditional attendance methods are time-consuming, prone to errors, and require manual effort from teachers. This system overcomes those limitations by using modern technologies such as RFID, biometric authentication, QR codes, facial recognition, or web-based applications to mark attendance accurately and efficiently.</a:t>
            </a:r>
            <a:br>
              <a:rPr lang="en-IN" sz="1700" dirty="0"/>
            </a:br>
            <a:endParaRPr lang="en-IN" sz="1700" dirty="0"/>
          </a:p>
          <a:p>
            <a:r>
              <a:rPr lang="en-IN" sz="1700" dirty="0"/>
              <a:t>The main objective of the system is to provide a fast, secure, and reliable attendance monitoring process while reducing paperwork and human errors. The system stores attendance records in a centralized database, allowing teachers and administrators to easily access, update, and </a:t>
            </a:r>
            <a:r>
              <a:rPr lang="en-IN" sz="1700" dirty="0" err="1"/>
              <a:t>analyze</a:t>
            </a:r>
            <a:r>
              <a:rPr lang="en-IN" sz="1700" dirty="0"/>
              <a:t> attendance information in real time. It also helps in generating attendance reports, monitoring student participation, and sending notifications to parents or guardians regarding absenteeism.</a:t>
            </a:r>
            <a:br>
              <a:rPr lang="en-IN" sz="1700" dirty="0"/>
            </a:br>
            <a:endParaRPr lang="en-IN" sz="1700" dirty="0"/>
          </a:p>
          <a:p>
            <a:r>
              <a:rPr lang="en-IN" sz="1700" dirty="0"/>
              <a:t>The proposed system improves transparency, saves valuable classroom time, and enhances institutional management. Additionally, it ensures better data security and supports easy maintenance of attendance records for future reference. Overall, the Smart Student Attendance Management System offers an efficient and intelligent approach to modern attendance management in schools, colleges, and universities.</a:t>
            </a:r>
            <a:endParaRPr lang="en-IN" sz="1700" dirty="0"/>
          </a:p>
          <a:p>
            <a:endParaRPr lang="en-US"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Introduction</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0" y="914400"/>
            <a:ext cx="9067800" cy="5943600"/>
          </a:xfrm>
        </p:spPr>
        <p:txBody>
          <a:bodyPr>
            <a:normAutofit/>
          </a:bodyPr>
          <a:lstStyle/>
          <a:p>
            <a:r>
              <a:rPr lang="en-IN" sz="1600" dirty="0">
                <a:latin typeface="+mj-lt"/>
              </a:rPr>
              <a:t>In today’s fast-paced educational environment, maintaining accurate student attendance has become an important yet challenging task for educational institutions. Traditional attendance methods, such as manual roll calls and paper registers, are time-consuming, prone to errors, and difficult to manage efficiently. These limitations can affect classroom productivity, data accuracy, and overall administrative performance. With the rapid advancement of digital technology, there is a growing need for a smarter and more automated solution for attendance management.</a:t>
            </a:r>
            <a:endParaRPr lang="en-IN" sz="1600" dirty="0">
              <a:latin typeface="+mj-lt"/>
            </a:endParaRPr>
          </a:p>
          <a:p>
            <a:endParaRPr lang="en-IN" sz="1600" dirty="0">
              <a:latin typeface="+mj-lt"/>
            </a:endParaRPr>
          </a:p>
          <a:p>
            <a:r>
              <a:rPr lang="en-IN" sz="1600" dirty="0">
                <a:latin typeface="+mj-lt"/>
              </a:rPr>
              <a:t>The Smart Student Attendance Management System is designed as an efficient and reliable platform to simplify the process of recording and monitoring student attendance. The system uses modern technologies such as RFID, biometric authentication, QR codes, facial recognition, or mobile applications to automate attendance marking and reduce manual effort. It stores attendance records in a centralized database, allowing teachers and administrators to easily access, manage, and </a:t>
            </a:r>
            <a:r>
              <a:rPr lang="en-IN" sz="1600" dirty="0" err="1">
                <a:latin typeface="+mj-lt"/>
              </a:rPr>
              <a:t>analyze</a:t>
            </a:r>
            <a:r>
              <a:rPr lang="en-IN" sz="1600" dirty="0">
                <a:latin typeface="+mj-lt"/>
              </a:rPr>
              <a:t> attendance information in real time.</a:t>
            </a:r>
            <a:endParaRPr lang="en-IN" sz="1600" dirty="0">
              <a:latin typeface="+mj-lt"/>
            </a:endParaRPr>
          </a:p>
          <a:p>
            <a:endParaRPr lang="en-IN" sz="1600" dirty="0">
              <a:latin typeface="+mj-lt"/>
            </a:endParaRPr>
          </a:p>
          <a:p>
            <a:r>
              <a:rPr lang="en-IN" sz="1600" dirty="0">
                <a:latin typeface="+mj-lt"/>
              </a:rPr>
              <a:t>The application also provides useful features such as attendance reports, percentage calculations, student performance monitoring, and automated notifications for students and parents. By integrating digital tracking, data management, and real-time monitoring, the system improves accuracy, saves valuable classroom time, and enhances institutional efficiency.</a:t>
            </a:r>
            <a:endParaRPr lang="en-IN" sz="1600" dirty="0">
              <a:latin typeface="+mj-lt"/>
            </a:endParaRPr>
          </a:p>
          <a:p>
            <a:endParaRPr lang="en-IN" sz="1600" dirty="0">
              <a:latin typeface="+mj-lt"/>
            </a:endParaRPr>
          </a:p>
          <a:p>
            <a:r>
              <a:rPr lang="en-IN" sz="1600" dirty="0">
                <a:latin typeface="+mj-lt"/>
              </a:rPr>
              <a:t>Overall, the Smart Student Attendance Management System aims to create a user-friendly, secure, and transparent attendance solution that promotes discipline, reduces administrative workload, and supports better academic management in educational institutions</a:t>
            </a:r>
            <a:endParaRPr lang="en-US" sz="1600" dirty="0">
              <a:latin typeface="+mj-lt"/>
            </a:endParaRPr>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317"/>
            <a:ext cx="8229600" cy="1143000"/>
          </a:xfrm>
        </p:spPr>
        <p:txBody>
          <a:bodyPr/>
          <a:p>
            <a:r>
              <a:rPr lang="en-GB" altLang="en-US"/>
              <a:t>CO Wise Mapping </a:t>
            </a:r>
            <a:endParaRPr lang="en-GB" altLang="en-US"/>
          </a:p>
        </p:txBody>
      </p:sp>
      <p:sp>
        <p:nvSpPr>
          <p:cNvPr id="3" name="Content Placeholder 2"/>
          <p:cNvSpPr>
            <a:spLocks noGrp="1"/>
          </p:cNvSpPr>
          <p:nvPr>
            <p:ph idx="1"/>
          </p:nvPr>
        </p:nvSpPr>
        <p:spPr>
          <a:xfrm>
            <a:off x="457200" y="1371601"/>
            <a:ext cx="8229600" cy="4525963"/>
          </a:xfrm>
        </p:spPr>
        <p:txBody>
          <a:bodyPr>
            <a:noAutofit/>
          </a:bodyPr>
          <a:p>
            <a:pPr marL="0" indent="0">
              <a:buNone/>
            </a:pPr>
            <a:r>
              <a:rPr lang="en-US" altLang="en-US" sz="1300" b="1"/>
              <a:t>CO1: Front-End Design &amp; User Interface</a:t>
            </a:r>
            <a:endParaRPr lang="en-US" altLang="en-US" sz="1300" b="1"/>
          </a:p>
          <a:p>
            <a:pPr marL="0" indent="0">
              <a:buNone/>
            </a:pPr>
            <a:endParaRPr lang="en-US" altLang="en-US" sz="1300" b="1"/>
          </a:p>
          <a:p>
            <a:r>
              <a:rPr lang="en-US" altLang="en-US" sz="1300"/>
              <a:t>HTML5 page structure</a:t>
            </a:r>
            <a:endParaRPr lang="en-US" altLang="en-US" sz="1300"/>
          </a:p>
          <a:p>
            <a:r>
              <a:rPr lang="en-US" altLang="en-US" sz="1300"/>
              <a:t>CSS3 styling and responsive design</a:t>
            </a:r>
            <a:endParaRPr lang="en-US" altLang="en-US" sz="1300"/>
          </a:p>
          <a:p>
            <a:r>
              <a:rPr lang="en-US" altLang="en-US" sz="1300"/>
              <a:t>Authentication screens (Login/Register)</a:t>
            </a:r>
            <a:endParaRPr lang="en-US" altLang="en-US" sz="1300"/>
          </a:p>
          <a:p>
            <a:r>
              <a:rPr lang="en-US" altLang="en-US" sz="1300"/>
              <a:t>Dashboard layouts</a:t>
            </a:r>
            <a:endParaRPr lang="en-US" altLang="en-US" sz="1300"/>
          </a:p>
          <a:p>
            <a:r>
              <a:rPr lang="en-US" altLang="en-US" sz="1300"/>
              <a:t>Sidebar navigation</a:t>
            </a:r>
            <a:endParaRPr lang="en-US" altLang="en-US" sz="1300"/>
          </a:p>
          <a:p>
            <a:r>
              <a:rPr lang="en-US" altLang="en-US" sz="1300"/>
              <a:t>Cards, tables, forms, modals, and toast notifications</a:t>
            </a:r>
            <a:endParaRPr lang="en-US" altLang="en-US" sz="1300"/>
          </a:p>
          <a:p>
            <a:r>
              <a:rPr lang="en-US" altLang="en-US" sz="1300"/>
              <a:t>User-friendly interface design</a:t>
            </a:r>
            <a:endParaRPr lang="en-US" altLang="en-US" sz="1300"/>
          </a:p>
          <a:p>
            <a:r>
              <a:rPr lang="en-US" altLang="en-US" sz="1300"/>
              <a:t>Mobile-responsive UI using media queries</a:t>
            </a:r>
            <a:endParaRPr lang="en-US" altLang="en-US" sz="1300"/>
          </a:p>
          <a:p>
            <a:endParaRPr lang="en-US" altLang="en-US" sz="1300"/>
          </a:p>
          <a:p>
            <a:pPr marL="0" indent="0">
              <a:buNone/>
            </a:pPr>
            <a:r>
              <a:rPr lang="en-US" altLang="en-US" sz="1300" b="1"/>
              <a:t>CO2: JavaScript Fundamentals &amp; DOM Manipulation</a:t>
            </a:r>
            <a:endParaRPr lang="en-US" altLang="en-US" sz="1300" b="1"/>
          </a:p>
          <a:p>
            <a:pPr marL="0" indent="0">
              <a:buNone/>
            </a:pPr>
            <a:endParaRPr lang="en-US" altLang="en-US" sz="1300" b="1"/>
          </a:p>
          <a:p>
            <a:r>
              <a:rPr lang="en-US" altLang="en-US" sz="1300"/>
              <a:t>Variables, arrays, objects, and functions</a:t>
            </a:r>
            <a:endParaRPr lang="en-US" altLang="en-US" sz="1300"/>
          </a:p>
          <a:p>
            <a:r>
              <a:rPr lang="en-US" altLang="en-US" sz="1300"/>
              <a:t>Event handling</a:t>
            </a:r>
            <a:endParaRPr lang="en-US" altLang="en-US" sz="1300"/>
          </a:p>
          <a:p>
            <a:r>
              <a:rPr lang="en-US" altLang="en-US" sz="1300"/>
              <a:t>DOM selection and manipulation</a:t>
            </a:r>
            <a:endParaRPr lang="en-US" altLang="en-US" sz="1300"/>
          </a:p>
          <a:p>
            <a:r>
              <a:rPr lang="en-US" altLang="en-US" sz="1300"/>
              <a:t>Dynamic content rendering</a:t>
            </a:r>
            <a:endParaRPr lang="en-US" altLang="en-US" sz="1300"/>
          </a:p>
          <a:p>
            <a:r>
              <a:rPr lang="en-US" altLang="en-US" sz="1300"/>
              <a:t>Form validation</a:t>
            </a:r>
            <a:endParaRPr lang="en-US" altLang="en-US" sz="1300"/>
          </a:p>
          <a:p>
            <a:r>
              <a:rPr lang="en-US" altLang="en-US" sz="1300"/>
              <a:t>Interactive buttons and controls</a:t>
            </a:r>
            <a:endParaRPr lang="en-US" altLang="en-US" sz="1300"/>
          </a:p>
          <a:p>
            <a:r>
              <a:rPr lang="en-US" altLang="en-US" sz="1300"/>
              <a:t>Modal open/close operations</a:t>
            </a:r>
            <a:endParaRPr lang="en-US" altLang="en-US" sz="1300"/>
          </a:p>
          <a:p>
            <a:r>
              <a:rPr lang="en-US" altLang="en-US" sz="1300"/>
              <a:t>Real-time UI updates</a:t>
            </a:r>
            <a:endParaRPr lang="en-US" altLang="en-US" sz="13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609601"/>
            <a:ext cx="8229600" cy="4525963"/>
          </a:xfrm>
        </p:spPr>
        <p:txBody>
          <a:bodyPr>
            <a:normAutofit fontScale="25000"/>
          </a:bodyPr>
          <a:p>
            <a:pPr marL="0" indent="0">
              <a:buNone/>
            </a:pPr>
            <a:r>
              <a:rPr lang="en-US" altLang="en-US" sz="5715" b="1"/>
              <a:t>CO3: User Authentication &amp; Role Management</a:t>
            </a:r>
            <a:endParaRPr lang="en-US" altLang="en-US" sz="5715" b="1"/>
          </a:p>
          <a:p>
            <a:r>
              <a:rPr lang="en-US" altLang="en-US" sz="5715"/>
              <a:t>Login and registration system</a:t>
            </a:r>
            <a:endParaRPr lang="en-US" altLang="en-US" sz="5715"/>
          </a:p>
          <a:p>
            <a:r>
              <a:rPr lang="en-US" altLang="en-US" sz="5715"/>
              <a:t>Admin, Faculty, and Student roles</a:t>
            </a:r>
            <a:endParaRPr lang="en-US" altLang="en-US" sz="5715"/>
          </a:p>
          <a:p>
            <a:r>
              <a:rPr lang="en-US" altLang="en-US" sz="5715"/>
              <a:t>Role-based access control</a:t>
            </a:r>
            <a:endParaRPr lang="en-US" altLang="en-US" sz="5715"/>
          </a:p>
          <a:p>
            <a:r>
              <a:rPr lang="en-US" altLang="en-US" sz="5715"/>
              <a:t>User session handling</a:t>
            </a:r>
            <a:endParaRPr lang="en-US" altLang="en-US" sz="5715"/>
          </a:p>
          <a:p>
            <a:r>
              <a:rPr lang="en-US" altLang="en-US" sz="5715"/>
              <a:t>Credential verification</a:t>
            </a:r>
            <a:endParaRPr lang="en-US" altLang="en-US" sz="5715"/>
          </a:p>
          <a:p>
            <a:r>
              <a:rPr lang="en-US" altLang="en-US" sz="5715"/>
              <a:t>Dynamic dashboard generation based on role</a:t>
            </a:r>
            <a:endParaRPr lang="en-US" altLang="en-US" sz="5715"/>
          </a:p>
          <a:p>
            <a:r>
              <a:rPr lang="en-US" altLang="en-US" sz="5715"/>
              <a:t>User profile management</a:t>
            </a:r>
            <a:endParaRPr lang="en-US" altLang="en-US" sz="5715"/>
          </a:p>
          <a:p>
            <a:endParaRPr lang="en-US" altLang="en-US" sz="5715"/>
          </a:p>
          <a:p>
            <a:endParaRPr lang="en-US" altLang="en-US" sz="5715"/>
          </a:p>
          <a:p>
            <a:pPr marL="0" indent="0">
              <a:buNone/>
            </a:pPr>
            <a:r>
              <a:rPr lang="en-US" altLang="en-US" sz="5715" b="1"/>
              <a:t>CO4: Attendance Management System</a:t>
            </a:r>
            <a:endParaRPr lang="en-US" altLang="en-US" sz="5715" b="1"/>
          </a:p>
          <a:p>
            <a:r>
              <a:rPr lang="en-US" altLang="en-US" sz="5715"/>
              <a:t>Attendance marking functionality</a:t>
            </a:r>
            <a:endParaRPr lang="en-US" altLang="en-US" sz="5715"/>
          </a:p>
          <a:p>
            <a:r>
              <a:rPr lang="en-US" altLang="en-US" sz="5715"/>
              <a:t>Present/Absent status tracking</a:t>
            </a:r>
            <a:endParaRPr lang="en-US" altLang="en-US" sz="5715"/>
          </a:p>
          <a:p>
            <a:r>
              <a:rPr lang="en-US" altLang="en-US" sz="5715"/>
              <a:t>Attendance record storage</a:t>
            </a:r>
            <a:endParaRPr lang="en-US" altLang="en-US" sz="5715"/>
          </a:p>
          <a:p>
            <a:r>
              <a:rPr lang="en-US" altLang="en-US" sz="5715"/>
              <a:t>Class-wise attendance management</a:t>
            </a:r>
            <a:endParaRPr lang="en-US" altLang="en-US" sz="5715"/>
          </a:p>
          <a:p>
            <a:r>
              <a:rPr lang="en-US" altLang="en-US" sz="5715"/>
              <a:t>Subject-wise attendance tracking</a:t>
            </a:r>
            <a:endParaRPr lang="en-US" altLang="en-US" sz="5715"/>
          </a:p>
          <a:p>
            <a:r>
              <a:rPr lang="en-US" altLang="en-US" sz="5715"/>
              <a:t>Period-wise attendance management</a:t>
            </a:r>
            <a:endParaRPr lang="en-US" altLang="en-US" sz="5715"/>
          </a:p>
          <a:p>
            <a:r>
              <a:rPr lang="en-US" altLang="en-US" sz="5715"/>
              <a:t>Attendance summary calculations</a:t>
            </a:r>
            <a:endParaRPr lang="en-US" altLang="en-US" sz="5715"/>
          </a:p>
          <a:p>
            <a:r>
              <a:rPr lang="en-US" altLang="en-US" sz="5715"/>
              <a:t>Bulk attendance operations (Mark All Present/Absent)</a:t>
            </a:r>
            <a:endParaRPr lang="en-US" altLang="en-US" sz="5715"/>
          </a:p>
          <a:p>
            <a:endParaRPr lang="en-US" altLang="en-US"/>
          </a:p>
          <a:p>
            <a:pPr marL="0" indent="0">
              <a:buNone/>
            </a:pP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33400" y="762001"/>
            <a:ext cx="8229600" cy="4525963"/>
          </a:xfrm>
        </p:spPr>
        <p:txBody>
          <a:bodyPr>
            <a:noAutofit/>
          </a:bodyPr>
          <a:p>
            <a:pPr marL="0" indent="0">
              <a:buNone/>
            </a:pPr>
            <a:r>
              <a:rPr lang="en-US" altLang="en-US" sz="1300" b="1">
                <a:sym typeface="+mn-ea"/>
              </a:rPr>
              <a:t>CO5: Data Management &amp; Reports</a:t>
            </a:r>
            <a:endParaRPr lang="en-US" altLang="en-US" sz="1300" b="1"/>
          </a:p>
          <a:p>
            <a:pPr marL="0" indent="0">
              <a:buNone/>
            </a:pPr>
            <a:endParaRPr lang="en-US" altLang="en-US" sz="1300" b="1"/>
          </a:p>
          <a:p>
            <a:r>
              <a:rPr lang="en-US" altLang="en-US" sz="1300">
                <a:sym typeface="+mn-ea"/>
              </a:rPr>
              <a:t>Student data management</a:t>
            </a:r>
            <a:endParaRPr lang="en-US" altLang="en-US" sz="1300"/>
          </a:p>
          <a:p>
            <a:r>
              <a:rPr lang="en-US" altLang="en-US" sz="1300">
                <a:sym typeface="+mn-ea"/>
              </a:rPr>
              <a:t>Faculty data management</a:t>
            </a:r>
            <a:endParaRPr lang="en-US" altLang="en-US" sz="1300"/>
          </a:p>
          <a:p>
            <a:r>
              <a:rPr lang="en-US" altLang="en-US" sz="1300">
                <a:sym typeface="+mn-ea"/>
              </a:rPr>
              <a:t>Attendance records management</a:t>
            </a:r>
            <a:endParaRPr lang="en-US" altLang="en-US" sz="1300"/>
          </a:p>
          <a:p>
            <a:r>
              <a:rPr lang="en-US" altLang="en-US" sz="1300">
                <a:sym typeface="+mn-ea"/>
              </a:rPr>
              <a:t>Dynamic table generation</a:t>
            </a:r>
            <a:endParaRPr lang="en-US" altLang="en-US" sz="1300"/>
          </a:p>
          <a:p>
            <a:r>
              <a:rPr lang="en-US" altLang="en-US" sz="1300">
                <a:sym typeface="+mn-ea"/>
              </a:rPr>
              <a:t>Statistical calculations</a:t>
            </a:r>
            <a:endParaRPr lang="en-US" altLang="en-US" sz="1300"/>
          </a:p>
          <a:p>
            <a:r>
              <a:rPr lang="en-US" altLang="en-US" sz="1300">
                <a:sym typeface="+mn-ea"/>
              </a:rPr>
              <a:t>Attendance percentage computation</a:t>
            </a:r>
            <a:endParaRPr lang="en-US" altLang="en-US" sz="1300"/>
          </a:p>
          <a:p>
            <a:r>
              <a:rPr lang="en-US" altLang="en-US" sz="1300">
                <a:sym typeface="+mn-ea"/>
              </a:rPr>
              <a:t>Report generation</a:t>
            </a:r>
            <a:endParaRPr lang="en-US" altLang="en-US" sz="1300"/>
          </a:p>
          <a:p>
            <a:r>
              <a:rPr lang="en-US" altLang="en-US" sz="1300">
                <a:sym typeface="+mn-ea"/>
              </a:rPr>
              <a:t>Analytics dashboard</a:t>
            </a:r>
            <a:endParaRPr lang="en-US" altLang="en-US" sz="1300"/>
          </a:p>
          <a:p>
            <a:endParaRPr lang="en-US" altLang="en-US" sz="1300"/>
          </a:p>
          <a:p>
            <a:pPr marL="0" indent="0">
              <a:buNone/>
            </a:pPr>
            <a:r>
              <a:rPr lang="en-US" altLang="en-US" sz="1300" b="1">
                <a:sym typeface="+mn-ea"/>
              </a:rPr>
              <a:t>CO6: Advanced Features &amp; System Integration</a:t>
            </a:r>
            <a:endParaRPr lang="en-US" altLang="en-US" sz="1300" b="1"/>
          </a:p>
          <a:p>
            <a:pPr marL="0" indent="0">
              <a:buNone/>
            </a:pPr>
            <a:endParaRPr lang="en-US" altLang="en-US" sz="1300"/>
          </a:p>
          <a:p>
            <a:r>
              <a:rPr lang="en-US" altLang="en-US" sz="1300">
                <a:sym typeface="+mn-ea"/>
              </a:rPr>
              <a:t>Modal-based CRUD operations</a:t>
            </a:r>
            <a:endParaRPr lang="en-US" altLang="en-US" sz="1300"/>
          </a:p>
          <a:p>
            <a:r>
              <a:rPr lang="en-US" altLang="en-US" sz="1300">
                <a:sym typeface="+mn-ea"/>
              </a:rPr>
              <a:t>Notification system (Toast Messages)</a:t>
            </a:r>
            <a:endParaRPr lang="en-US" altLang="en-US" sz="1300"/>
          </a:p>
          <a:p>
            <a:r>
              <a:rPr lang="en-US" altLang="en-US" sz="1300">
                <a:sym typeface="+mn-ea"/>
              </a:rPr>
              <a:t>Dynamic filtering and searching</a:t>
            </a:r>
            <a:endParaRPr lang="en-US" altLang="en-US" sz="1300"/>
          </a:p>
          <a:p>
            <a:r>
              <a:rPr lang="en-US" altLang="en-US" sz="1300">
                <a:sym typeface="+mn-ea"/>
              </a:rPr>
              <a:t>Progress bars and visual analytics</a:t>
            </a:r>
            <a:endParaRPr lang="en-US" altLang="en-US" sz="1300"/>
          </a:p>
          <a:p>
            <a:r>
              <a:rPr lang="en-US" altLang="en-US" sz="1300">
                <a:sym typeface="+mn-ea"/>
              </a:rPr>
              <a:t>Responsive layouts</a:t>
            </a:r>
            <a:endParaRPr lang="en-US" altLang="en-US" sz="1300"/>
          </a:p>
          <a:p>
            <a:r>
              <a:rPr lang="en-US" altLang="en-US" sz="1300">
                <a:sym typeface="+mn-ea"/>
              </a:rPr>
              <a:t>State management using JavaScript objects</a:t>
            </a:r>
            <a:endParaRPr lang="en-US" altLang="en-US" sz="1300"/>
          </a:p>
          <a:p>
            <a:r>
              <a:rPr lang="en-US" altLang="en-US" sz="1300">
                <a:sym typeface="+mn-ea"/>
              </a:rPr>
              <a:t>Real-time dashboard updates</a:t>
            </a:r>
            <a:endParaRPr lang="en-US" altLang="en-US" sz="1300"/>
          </a:p>
          <a:p>
            <a:r>
              <a:rPr lang="en-US" altLang="en-US" sz="1300">
                <a:sym typeface="+mn-ea"/>
              </a:rPr>
              <a:t>Complete Attendance Management System integration</a:t>
            </a:r>
            <a:endParaRPr lang="en-US" altLang="en-US" sz="1300"/>
          </a:p>
          <a:p>
            <a:endParaRPr lang="en-US" altLang="en-US" sz="3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143000"/>
          </a:xfrm>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Problem Statement</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38100" y="1828800"/>
            <a:ext cx="9067800" cy="5592761"/>
          </a:xfrm>
        </p:spPr>
        <p:txBody>
          <a:bodyPr>
            <a:normAutofit/>
          </a:bodyPr>
          <a:lstStyle/>
          <a:p>
            <a:r>
              <a:rPr lang="en-GB" sz="1800" dirty="0"/>
              <a:t>In many educational institutions, student attendance is still recorded manually using paper registers or basic spreadsheets. This traditional method is time-consuming, prone to human errors, and makes it difficult to maintain accurate attendance records. Faculty members often spend valuable class time marking attendance, while administrators face challenges in tracking student attendance, generating reports, and identifying students with low attendance.</a:t>
            </a:r>
            <a:endParaRPr lang="en-GB" sz="1800" dirty="0"/>
          </a:p>
          <a:p>
            <a:pPr marL="0" indent="0">
              <a:buNone/>
            </a:pPr>
            <a:endParaRPr lang="en-GB" sz="1800" dirty="0"/>
          </a:p>
          <a:p>
            <a:r>
              <a:rPr lang="en-GB" sz="1800" dirty="0"/>
              <a:t>A </a:t>
            </a:r>
            <a:r>
              <a:rPr lang="en-GB" sz="1800" b="1" dirty="0"/>
              <a:t>Smart Student Attendance Management System</a:t>
            </a:r>
            <a:r>
              <a:rPr lang="en-GB" sz="1800" dirty="0"/>
              <a:t> is needed to automate the attendance process, improve accuracy, and provide real-time access to attendance data. The system should allow secure attendance recording, efficient storage of records, automatic report generation, and easy monitoring of student attendance by faculty and administrators. By reducing manual effort and enhancing data management, the system aims to improve operational efficiency and support better academic monitoring within educational institutions.</a:t>
            </a:r>
            <a:endParaRPr lang="en-GB" sz="1800" dirty="0"/>
          </a:p>
          <a:p>
            <a:endParaRPr lang="en-US" dirty="0"/>
          </a:p>
        </p:txBody>
      </p:sp>
      <p:pic>
        <p:nvPicPr>
          <p:cNvPr id="3" name="Picture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Project Flow Diagram</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40000"/>
          </a:bodyPr>
          <a:lstStyle/>
          <a:p>
            <a:pPr marL="0" indent="0">
              <a:buNone/>
            </a:pPr>
            <a:r>
              <a:rPr lang="en-US" altLang="en-US" dirty="0"/>
              <a:t>Student Registration/Login</a:t>
            </a:r>
            <a:endParaRPr lang="en-US" altLang="en-US" dirty="0"/>
          </a:p>
          <a:p>
            <a:pPr marL="0" indent="0">
              <a:buNone/>
            </a:pPr>
            <a:r>
              <a:rPr lang="en-US" altLang="en-US" dirty="0"/>
              <a:t>           ↓</a:t>
            </a:r>
            <a:endParaRPr lang="en-US" altLang="en-US" dirty="0"/>
          </a:p>
          <a:p>
            <a:pPr marL="0" indent="0">
              <a:buNone/>
            </a:pPr>
            <a:r>
              <a:rPr lang="en-US" altLang="en-US" dirty="0"/>
              <a:t>Select Class/Course</a:t>
            </a:r>
            <a:endParaRPr lang="en-US" altLang="en-US" dirty="0"/>
          </a:p>
          <a:p>
            <a:pPr marL="0" indent="0">
              <a:buNone/>
            </a:pPr>
            <a:r>
              <a:rPr lang="en-US" altLang="en-US" dirty="0"/>
              <a:t>           ↓</a:t>
            </a:r>
            <a:endParaRPr lang="en-US" altLang="en-US" dirty="0"/>
          </a:p>
          <a:p>
            <a:pPr marL="0" indent="0">
              <a:buNone/>
            </a:pPr>
            <a:r>
              <a:rPr lang="en-US" altLang="en-US" dirty="0"/>
              <a:t>View Session Schedule</a:t>
            </a:r>
            <a:endParaRPr lang="en-US" altLang="en-US" dirty="0"/>
          </a:p>
          <a:p>
            <a:pPr marL="0" indent="0">
              <a:buNone/>
            </a:pPr>
            <a:r>
              <a:rPr lang="en-US" altLang="en-US" dirty="0"/>
              <a:t>           ↓</a:t>
            </a:r>
            <a:endParaRPr lang="en-US" altLang="en-US" dirty="0"/>
          </a:p>
          <a:p>
            <a:pPr marL="0" indent="0">
              <a:buNone/>
            </a:pPr>
            <a:r>
              <a:rPr lang="en-US" altLang="en-US" dirty="0"/>
              <a:t>Mark Attendance (Present/Absent/Late)</a:t>
            </a:r>
            <a:endParaRPr lang="en-US" altLang="en-US" dirty="0"/>
          </a:p>
          <a:p>
            <a:pPr marL="0" indent="0">
              <a:buNone/>
            </a:pPr>
            <a:r>
              <a:rPr lang="en-US" altLang="en-US" dirty="0"/>
              <a:t>           ↓</a:t>
            </a:r>
            <a:endParaRPr lang="en-US" altLang="en-US" dirty="0"/>
          </a:p>
          <a:p>
            <a:pPr marL="0" indent="0">
              <a:buNone/>
            </a:pPr>
            <a:r>
              <a:rPr lang="en-US" altLang="en-US" dirty="0"/>
              <a:t>Submit Attendance</a:t>
            </a:r>
            <a:endParaRPr lang="en-US" altLang="en-US" dirty="0"/>
          </a:p>
          <a:p>
            <a:pPr marL="0" indent="0">
              <a:buNone/>
            </a:pPr>
            <a:r>
              <a:rPr lang="en-US" altLang="en-US" dirty="0"/>
              <a:t>           ↓</a:t>
            </a:r>
            <a:endParaRPr lang="en-US" altLang="en-US" dirty="0"/>
          </a:p>
          <a:p>
            <a:pPr marL="0" indent="0">
              <a:buNone/>
            </a:pPr>
            <a:r>
              <a:rPr lang="en-US" altLang="en-US" dirty="0"/>
              <a:t>Receive Confirmation</a:t>
            </a:r>
            <a:endParaRPr lang="en-US" altLang="en-US" dirty="0"/>
          </a:p>
          <a:p>
            <a:pPr marL="0" indent="0">
              <a:buNone/>
            </a:pPr>
            <a:r>
              <a:rPr lang="en-US" altLang="en-US" dirty="0"/>
              <a:t>           ↓</a:t>
            </a:r>
            <a:endParaRPr lang="en-US" altLang="en-US" dirty="0"/>
          </a:p>
          <a:p>
            <a:pPr marL="0" indent="0">
              <a:buNone/>
            </a:pPr>
            <a:r>
              <a:rPr lang="en-US" altLang="en-US" dirty="0"/>
              <a:t>Attendance Reminder (for missed sessions)</a:t>
            </a:r>
            <a:endParaRPr lang="en-US" altLang="en-US" dirty="0"/>
          </a:p>
          <a:p>
            <a:pPr marL="0" indent="0">
              <a:buNone/>
            </a:pPr>
            <a:r>
              <a:rPr lang="en-US" altLang="en-US" dirty="0"/>
              <a:t>           ↓</a:t>
            </a:r>
            <a:endParaRPr lang="en-US" altLang="en-US" dirty="0"/>
          </a:p>
          <a:p>
            <a:pPr marL="0" indent="0">
              <a:buNone/>
            </a:pPr>
            <a:r>
              <a:rPr lang="en-US" altLang="en-US" dirty="0"/>
              <a:t>Faculty/Admin Verification</a:t>
            </a:r>
            <a:endParaRPr lang="en-US" altLang="en-US" dirty="0"/>
          </a:p>
          <a:p>
            <a:pPr marL="0" indent="0">
              <a:buNone/>
            </a:pPr>
            <a:r>
              <a:rPr lang="en-US" altLang="en-US" dirty="0"/>
              <a:t>           ↓</a:t>
            </a:r>
            <a:endParaRPr lang="en-US" altLang="en-US" dirty="0"/>
          </a:p>
          <a:p>
            <a:pPr marL="0" indent="0">
              <a:buNone/>
            </a:pPr>
            <a:r>
              <a:rPr lang="en-US" altLang="en-US" dirty="0"/>
              <a:t>Attendance History Stored</a:t>
            </a:r>
            <a:endParaRPr lang="en-US" altLang="en-US"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Objectives with Justification</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graphicFrame>
        <p:nvGraphicFramePr>
          <p:cNvPr id="3" name="Content Placeholder 2"/>
          <p:cNvGraphicFramePr>
            <a:graphicFrameLocks noGrp="1"/>
          </p:cNvGraphicFramePr>
          <p:nvPr>
            <p:ph idx="1"/>
          </p:nvPr>
        </p:nvGraphicFramePr>
        <p:xfrm>
          <a:off x="228600" y="960439"/>
          <a:ext cx="8839200" cy="5722335"/>
        </p:xfrm>
        <a:graphic>
          <a:graphicData uri="http://schemas.openxmlformats.org/drawingml/2006/table">
            <a:tbl>
              <a:tblPr/>
              <a:tblGrid>
                <a:gridCol w="4419600"/>
                <a:gridCol w="4419600"/>
              </a:tblGrid>
              <a:tr h="397137">
                <a:tc>
                  <a:txBody>
                    <a:bodyPr/>
                    <a:lstStyle/>
                    <a:p>
                      <a:pPr>
                        <a:buNone/>
                      </a:pPr>
                      <a:r>
                        <a:rPr lang="en-IN" sz="2400" b="1" i="1">
                          <a:latin typeface="+mj-lt"/>
                        </a:rPr>
                        <a:t>OBJECTIVES</a:t>
                      </a:r>
                      <a:endParaRPr lang="en-IN" sz="2400" b="1" i="1" dirty="0">
                        <a:latin typeface="+mj-lt"/>
                      </a:endParaRPr>
                    </a:p>
                  </a:txBody>
                  <a:tcPr marL="84750" marR="84750" marT="42375" marB="42375" anchor="ctr">
                    <a:lnL>
                      <a:noFill/>
                    </a:lnL>
                    <a:lnR>
                      <a:noFill/>
                    </a:lnR>
                    <a:lnT>
                      <a:noFill/>
                    </a:lnT>
                    <a:lnB>
                      <a:noFill/>
                    </a:lnB>
                    <a:noFill/>
                  </a:tcPr>
                </a:tc>
                <a:tc>
                  <a:txBody>
                    <a:bodyPr/>
                    <a:lstStyle/>
                    <a:p>
                      <a:pPr>
                        <a:buNone/>
                      </a:pPr>
                      <a:r>
                        <a:rPr lang="en-IN" sz="2400" b="1" i="1" dirty="0">
                          <a:latin typeface="+mj-lt"/>
                        </a:rPr>
                        <a:t>JUSTIFICATION</a:t>
                      </a:r>
                      <a:endParaRPr lang="en-IN" sz="2400" b="1" i="1" dirty="0">
                        <a:latin typeface="+mj-lt"/>
                      </a:endParaRPr>
                    </a:p>
                  </a:txBody>
                  <a:tcPr marL="84750" marR="84750" marT="42375" marB="42375" anchor="ctr">
                    <a:lnL>
                      <a:noFill/>
                    </a:lnL>
                    <a:lnR>
                      <a:noFill/>
                    </a:lnR>
                    <a:lnT>
                      <a:noFill/>
                    </a:lnT>
                    <a:lnB>
                      <a:noFill/>
                    </a:lnB>
                    <a:noFill/>
                  </a:tcPr>
                </a:tc>
              </a:tr>
              <a:tr h="397137">
                <a:tc>
                  <a:txBody>
                    <a:bodyPr/>
                    <a:lstStyle/>
                    <a:p>
                      <a:pPr>
                        <a:buNone/>
                      </a:pPr>
                      <a:r>
                        <a:rPr lang="en-IN" sz="1700"/>
                        <a:t>Automate attendance recording</a:t>
                      </a:r>
                      <a:endParaRPr lang="en-IN" sz="1700"/>
                    </a:p>
                  </a:txBody>
                  <a:tcPr marL="84750" marR="84750" marT="42375" marB="42375" anchor="ctr">
                    <a:lnL>
                      <a:noFill/>
                    </a:lnL>
                    <a:lnR>
                      <a:noFill/>
                    </a:lnR>
                    <a:lnT>
                      <a:noFill/>
                    </a:lnT>
                    <a:lnB>
                      <a:noFill/>
                    </a:lnB>
                    <a:noFill/>
                  </a:tcPr>
                </a:tc>
                <a:tc>
                  <a:txBody>
                    <a:bodyPr/>
                    <a:lstStyle/>
                    <a:p>
                      <a:pPr>
                        <a:buNone/>
                      </a:pPr>
                      <a:r>
                        <a:rPr lang="en-GB" sz="1700"/>
                        <a:t>Saves time and reduces manual effort.</a:t>
                      </a:r>
                      <a:endParaRPr lang="en-GB" sz="1700"/>
                    </a:p>
                  </a:txBody>
                  <a:tcPr marL="84750" marR="84750" marT="42375" marB="42375" anchor="ctr">
                    <a:lnL>
                      <a:noFill/>
                    </a:lnL>
                    <a:lnR>
                      <a:noFill/>
                    </a:lnR>
                    <a:lnT>
                      <a:noFill/>
                    </a:lnT>
                    <a:lnB>
                      <a:noFill/>
                    </a:lnB>
                    <a:noFill/>
                  </a:tcPr>
                </a:tc>
              </a:tr>
              <a:tr h="696384">
                <a:tc>
                  <a:txBody>
                    <a:bodyPr/>
                    <a:lstStyle/>
                    <a:p>
                      <a:pPr>
                        <a:buNone/>
                      </a:pPr>
                      <a:r>
                        <a:rPr lang="en-IN" sz="1700"/>
                        <a:t>Maintain a centralized database</a:t>
                      </a:r>
                      <a:endParaRPr lang="en-IN" sz="1700"/>
                    </a:p>
                  </a:txBody>
                  <a:tcPr marL="84750" marR="84750" marT="42375" marB="42375" anchor="ctr">
                    <a:lnL>
                      <a:noFill/>
                    </a:lnL>
                    <a:lnR>
                      <a:noFill/>
                    </a:lnR>
                    <a:lnT>
                      <a:noFill/>
                    </a:lnT>
                    <a:lnB>
                      <a:noFill/>
                    </a:lnB>
                    <a:noFill/>
                  </a:tcPr>
                </a:tc>
                <a:tc>
                  <a:txBody>
                    <a:bodyPr/>
                    <a:lstStyle/>
                    <a:p>
                      <a:pPr>
                        <a:buNone/>
                      </a:pPr>
                      <a:r>
                        <a:rPr lang="en-GB" sz="1700"/>
                        <a:t>Enables secure and easy access to records.</a:t>
                      </a:r>
                      <a:endParaRPr lang="en-GB" sz="1700"/>
                    </a:p>
                  </a:txBody>
                  <a:tcPr marL="84750" marR="84750" marT="42375" marB="42375" anchor="ctr">
                    <a:lnL>
                      <a:noFill/>
                    </a:lnL>
                    <a:lnR>
                      <a:noFill/>
                    </a:lnR>
                    <a:lnT>
                      <a:noFill/>
                    </a:lnT>
                    <a:lnB>
                      <a:noFill/>
                    </a:lnB>
                    <a:noFill/>
                  </a:tcPr>
                </a:tc>
              </a:tr>
              <a:tr h="696384">
                <a:tc>
                  <a:txBody>
                    <a:bodyPr/>
                    <a:lstStyle/>
                    <a:p>
                      <a:pPr>
                        <a:buNone/>
                      </a:pPr>
                      <a:r>
                        <a:rPr lang="en-IN" sz="1700"/>
                        <a:t>Reduce paperwork</a:t>
                      </a:r>
                      <a:endParaRPr lang="en-IN" sz="1700"/>
                    </a:p>
                  </a:txBody>
                  <a:tcPr marL="84750" marR="84750" marT="42375" marB="42375" anchor="ctr">
                    <a:lnL>
                      <a:noFill/>
                    </a:lnL>
                    <a:lnR>
                      <a:noFill/>
                    </a:lnR>
                    <a:lnT>
                      <a:noFill/>
                    </a:lnT>
                    <a:lnB>
                      <a:noFill/>
                    </a:lnB>
                    <a:noFill/>
                  </a:tcPr>
                </a:tc>
                <a:tc>
                  <a:txBody>
                    <a:bodyPr/>
                    <a:lstStyle/>
                    <a:p>
                      <a:pPr>
                        <a:buNone/>
                      </a:pPr>
                      <a:r>
                        <a:rPr lang="en-GB" sz="1700"/>
                        <a:t>Eliminates manual registers and record keeping.</a:t>
                      </a:r>
                      <a:endParaRPr lang="en-GB" sz="1700"/>
                    </a:p>
                  </a:txBody>
                  <a:tcPr marL="84750" marR="84750" marT="42375" marB="42375" anchor="ctr">
                    <a:lnL>
                      <a:noFill/>
                    </a:lnL>
                    <a:lnR>
                      <a:noFill/>
                    </a:lnR>
                    <a:lnT>
                      <a:noFill/>
                    </a:lnT>
                    <a:lnB>
                      <a:noFill/>
                    </a:lnB>
                    <a:noFill/>
                  </a:tcPr>
                </a:tc>
              </a:tr>
              <a:tr h="696384">
                <a:tc>
                  <a:txBody>
                    <a:bodyPr/>
                    <a:lstStyle/>
                    <a:p>
                      <a:pPr>
                        <a:buNone/>
                      </a:pPr>
                      <a:r>
                        <a:rPr lang="en-IN" sz="1700"/>
                        <a:t>Generate attendance reports</a:t>
                      </a:r>
                      <a:endParaRPr lang="en-IN" sz="1700"/>
                    </a:p>
                  </a:txBody>
                  <a:tcPr marL="84750" marR="84750" marT="42375" marB="42375" anchor="ctr">
                    <a:lnL>
                      <a:noFill/>
                    </a:lnL>
                    <a:lnR>
                      <a:noFill/>
                    </a:lnR>
                    <a:lnT>
                      <a:noFill/>
                    </a:lnT>
                    <a:lnB>
                      <a:noFill/>
                    </a:lnB>
                    <a:noFill/>
                  </a:tcPr>
                </a:tc>
                <a:tc>
                  <a:txBody>
                    <a:bodyPr/>
                    <a:lstStyle/>
                    <a:p>
                      <a:pPr>
                        <a:buNone/>
                      </a:pPr>
                      <a:r>
                        <a:rPr lang="en-GB" sz="1700"/>
                        <a:t>Provides quick and accurate attendance summaries.</a:t>
                      </a:r>
                      <a:endParaRPr lang="en-GB" sz="1700"/>
                    </a:p>
                  </a:txBody>
                  <a:tcPr marL="84750" marR="84750" marT="42375" marB="42375" anchor="ctr">
                    <a:lnL>
                      <a:noFill/>
                    </a:lnL>
                    <a:lnR>
                      <a:noFill/>
                    </a:lnR>
                    <a:lnT>
                      <a:noFill/>
                    </a:lnT>
                    <a:lnB>
                      <a:noFill/>
                    </a:lnB>
                    <a:noFill/>
                  </a:tcPr>
                </a:tc>
              </a:tr>
              <a:tr h="696384">
                <a:tc>
                  <a:txBody>
                    <a:bodyPr/>
                    <a:lstStyle/>
                    <a:p>
                      <a:pPr>
                        <a:buNone/>
                      </a:pPr>
                      <a:r>
                        <a:rPr lang="en-IN" sz="1700"/>
                        <a:t>Improve accuracy and transparency</a:t>
                      </a:r>
                      <a:endParaRPr lang="en-IN" sz="1700"/>
                    </a:p>
                  </a:txBody>
                  <a:tcPr marL="84750" marR="84750" marT="42375" marB="42375" anchor="ctr">
                    <a:lnL>
                      <a:noFill/>
                    </a:lnL>
                    <a:lnR>
                      <a:noFill/>
                    </a:lnR>
                    <a:lnT>
                      <a:noFill/>
                    </a:lnT>
                    <a:lnB>
                      <a:noFill/>
                    </a:lnB>
                    <a:noFill/>
                  </a:tcPr>
                </a:tc>
                <a:tc>
                  <a:txBody>
                    <a:bodyPr/>
                    <a:lstStyle/>
                    <a:p>
                      <a:pPr>
                        <a:buNone/>
                      </a:pPr>
                      <a:r>
                        <a:rPr lang="en-GB" sz="1700"/>
                        <a:t>Minimizes human errors in attendance tracking.</a:t>
                      </a:r>
                      <a:endParaRPr lang="en-GB" sz="1700"/>
                    </a:p>
                  </a:txBody>
                  <a:tcPr marL="84750" marR="84750" marT="42375" marB="42375" anchor="ctr">
                    <a:lnL>
                      <a:noFill/>
                    </a:lnL>
                    <a:lnR>
                      <a:noFill/>
                    </a:lnR>
                    <a:lnT>
                      <a:noFill/>
                    </a:lnT>
                    <a:lnB>
                      <a:noFill/>
                    </a:lnB>
                    <a:noFill/>
                  </a:tcPr>
                </a:tc>
              </a:tr>
              <a:tr h="696384">
                <a:tc>
                  <a:txBody>
                    <a:bodyPr/>
                    <a:lstStyle/>
                    <a:p>
                      <a:pPr>
                        <a:buNone/>
                      </a:pPr>
                      <a:r>
                        <a:rPr lang="en-IN" sz="1700"/>
                        <a:t>Monitor student attendance</a:t>
                      </a:r>
                      <a:endParaRPr lang="en-IN" sz="1700"/>
                    </a:p>
                  </a:txBody>
                  <a:tcPr marL="84750" marR="84750" marT="42375" marB="42375" anchor="ctr">
                    <a:lnL>
                      <a:noFill/>
                    </a:lnL>
                    <a:lnR>
                      <a:noFill/>
                    </a:lnR>
                    <a:lnT>
                      <a:noFill/>
                    </a:lnT>
                    <a:lnB>
                      <a:noFill/>
                    </a:lnB>
                    <a:noFill/>
                  </a:tcPr>
                </a:tc>
                <a:tc>
                  <a:txBody>
                    <a:bodyPr/>
                    <a:lstStyle/>
                    <a:p>
                      <a:pPr>
                        <a:buNone/>
                      </a:pPr>
                      <a:r>
                        <a:rPr lang="en-GB" sz="1700"/>
                        <a:t>Helps identify students with low attendance.</a:t>
                      </a:r>
                      <a:endParaRPr lang="en-GB" sz="1700"/>
                    </a:p>
                  </a:txBody>
                  <a:tcPr marL="84750" marR="84750" marT="42375" marB="42375" anchor="ctr">
                    <a:lnL>
                      <a:noFill/>
                    </a:lnL>
                    <a:lnR>
                      <a:noFill/>
                    </a:lnR>
                    <a:lnT>
                      <a:noFill/>
                    </a:lnT>
                    <a:lnB>
                      <a:noFill/>
                    </a:lnB>
                    <a:noFill/>
                  </a:tcPr>
                </a:tc>
              </a:tr>
              <a:tr h="696384">
                <a:tc>
                  <a:txBody>
                    <a:bodyPr/>
                    <a:lstStyle/>
                    <a:p>
                      <a:pPr>
                        <a:buNone/>
                      </a:pPr>
                      <a:r>
                        <a:rPr lang="en-IN" sz="1700"/>
                        <a:t>Ensure secure access</a:t>
                      </a:r>
                      <a:endParaRPr lang="en-IN" sz="1700"/>
                    </a:p>
                  </a:txBody>
                  <a:tcPr marL="84750" marR="84750" marT="42375" marB="42375" anchor="ctr">
                    <a:lnL>
                      <a:noFill/>
                    </a:lnL>
                    <a:lnR>
                      <a:noFill/>
                    </a:lnR>
                    <a:lnT>
                      <a:noFill/>
                    </a:lnT>
                    <a:lnB>
                      <a:noFill/>
                    </a:lnB>
                    <a:noFill/>
                  </a:tcPr>
                </a:tc>
                <a:tc>
                  <a:txBody>
                    <a:bodyPr/>
                    <a:lstStyle/>
                    <a:p>
                      <a:pPr>
                        <a:buNone/>
                      </a:pPr>
                      <a:r>
                        <a:rPr lang="en-GB" sz="1700"/>
                        <a:t>Protects data through authorized login access.</a:t>
                      </a:r>
                      <a:endParaRPr lang="en-GB" sz="1700"/>
                    </a:p>
                  </a:txBody>
                  <a:tcPr marL="84750" marR="84750" marT="42375" marB="42375" anchor="ctr">
                    <a:lnL>
                      <a:noFill/>
                    </a:lnL>
                    <a:lnR>
                      <a:noFill/>
                    </a:lnR>
                    <a:lnT>
                      <a:noFill/>
                    </a:lnT>
                    <a:lnB>
                      <a:noFill/>
                    </a:lnB>
                    <a:noFill/>
                  </a:tcPr>
                </a:tc>
              </a:tr>
              <a:tr h="696384">
                <a:tc>
                  <a:txBody>
                    <a:bodyPr/>
                    <a:lstStyle/>
                    <a:p>
                      <a:pPr>
                        <a:buNone/>
                      </a:pPr>
                      <a:r>
                        <a:rPr lang="en-IN" sz="1700"/>
                        <a:t>Enhance institutional efficiency</a:t>
                      </a:r>
                      <a:endParaRPr lang="en-IN" sz="1700"/>
                    </a:p>
                  </a:txBody>
                  <a:tcPr marL="84750" marR="84750" marT="42375" marB="42375" anchor="ctr">
                    <a:lnL>
                      <a:noFill/>
                    </a:lnL>
                    <a:lnR>
                      <a:noFill/>
                    </a:lnR>
                    <a:lnT>
                      <a:noFill/>
                    </a:lnT>
                    <a:lnB>
                      <a:noFill/>
                    </a:lnB>
                    <a:noFill/>
                  </a:tcPr>
                </a:tc>
                <a:tc>
                  <a:txBody>
                    <a:bodyPr/>
                    <a:lstStyle/>
                    <a:p>
                      <a:pPr>
                        <a:buNone/>
                      </a:pPr>
                      <a:r>
                        <a:rPr lang="en-IN" sz="1700" dirty="0"/>
                        <a:t>Streamlines attendance management processes.</a:t>
                      </a:r>
                      <a:endParaRPr lang="en-IN" sz="1700" dirty="0"/>
                    </a:p>
                  </a:txBody>
                  <a:tcPr marL="84750" marR="84750" marT="42375" marB="42375" anchor="ctr">
                    <a:lnL>
                      <a:noFill/>
                    </a:lnL>
                    <a:lnR>
                      <a:noFill/>
                    </a:lnR>
                    <a:lnT>
                      <a:noFill/>
                    </a:lnT>
                    <a:lnB>
                      <a:noFill/>
                    </a:lnB>
                    <a:noFill/>
                  </a:tcPr>
                </a:tc>
              </a:tr>
            </a:tbl>
          </a:graphicData>
        </a:graphic>
      </p:graphicFrame>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304800"/>
            <a:ext cx="7467600" cy="9906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Modules [Frontend web pages]</a:t>
            </a:r>
            <a:endParaRPr lang="en-US" sz="2800" b="1" dirty="0">
              <a:solidFill>
                <a:srgbClr val="0070C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
        <p:nvSpPr>
          <p:cNvPr id="3" name="Rectangle 1"/>
          <p:cNvSpPr>
            <a:spLocks noGrp="1" noChangeArrowheads="1"/>
          </p:cNvSpPr>
          <p:nvPr>
            <p:ph idx="1"/>
          </p:nvPr>
        </p:nvSpPr>
        <p:spPr bwMode="auto">
          <a:xfrm>
            <a:off x="457200" y="1151453"/>
            <a:ext cx="8229600"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Authentication Module </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Dashboard Module </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Student Management Module </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Class Management Module </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Attendance Management Module </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Attendance Records Module </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Reports Module </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User Profile Module </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Settings Module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708820"/>
            <a:ext cx="7162800" cy="868362"/>
          </a:xfrm>
        </p:spPr>
        <p:txBody>
          <a:bodyPr>
            <a:normAutofit fontScale="90000"/>
          </a:bodyPr>
          <a:lstStyle/>
          <a:p>
            <a:r>
              <a:rPr lang="en-US" sz="3100" b="1" dirty="0">
                <a:solidFill>
                  <a:srgbClr val="0070C0"/>
                </a:solidFill>
                <a:latin typeface="Times New Roman" panose="02020603050405020304" pitchFamily="18" charset="0"/>
                <a:cs typeface="Times New Roman" panose="02020603050405020304" pitchFamily="18" charset="0"/>
              </a:rPr>
              <a:t>Expected Outcomes of the Proposed Work</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457200" y="1556400"/>
            <a:ext cx="7620000" cy="3962399"/>
          </a:xfrm>
        </p:spPr>
        <p:txBody>
          <a:bodyPr>
            <a:normAutofit fontScale="92500" lnSpcReduction="10000"/>
          </a:bodyPr>
          <a:lstStyle/>
          <a:p>
            <a:r>
              <a:rPr lang="en-IN" sz="1600" dirty="0"/>
              <a:t>Automated attendance tracking</a:t>
            </a:r>
            <a:endParaRPr lang="en-IN" sz="1600" dirty="0"/>
          </a:p>
          <a:p>
            <a:endParaRPr lang="en-IN" sz="1600" dirty="0"/>
          </a:p>
          <a:p>
            <a:r>
              <a:rPr lang="en-IN" sz="1600" dirty="0"/>
              <a:t>Reduced manual work and paperwork</a:t>
            </a:r>
            <a:endParaRPr lang="en-IN" sz="1600" dirty="0"/>
          </a:p>
          <a:p>
            <a:endParaRPr lang="en-IN" sz="1600" dirty="0"/>
          </a:p>
          <a:p>
            <a:r>
              <a:rPr lang="en-IN" sz="1600" dirty="0"/>
              <a:t>Improved accuracy and reliability</a:t>
            </a:r>
            <a:endParaRPr lang="en-IN" sz="1600" dirty="0"/>
          </a:p>
          <a:p>
            <a:endParaRPr lang="en-IN" sz="1600" dirty="0"/>
          </a:p>
          <a:p>
            <a:r>
              <a:rPr lang="en-IN" sz="1600" dirty="0"/>
              <a:t>Centralized data management</a:t>
            </a:r>
            <a:endParaRPr lang="en-IN" sz="1600" dirty="0"/>
          </a:p>
          <a:p>
            <a:endParaRPr lang="en-IN" sz="1600" dirty="0"/>
          </a:p>
          <a:p>
            <a:r>
              <a:rPr lang="en-IN" sz="1600" dirty="0"/>
              <a:t>Faster report generation</a:t>
            </a:r>
            <a:endParaRPr lang="en-IN" sz="1600" dirty="0"/>
          </a:p>
          <a:p>
            <a:endParaRPr lang="en-IN" sz="1600" dirty="0"/>
          </a:p>
          <a:p>
            <a:r>
              <a:rPr lang="en-IN" sz="1600" dirty="0"/>
              <a:t>Better attendance monitoring</a:t>
            </a:r>
            <a:endParaRPr lang="en-IN" sz="1600" dirty="0"/>
          </a:p>
          <a:p>
            <a:endParaRPr lang="en-IN" sz="1600" dirty="0"/>
          </a:p>
          <a:p>
            <a:r>
              <a:rPr lang="en-IN" sz="1600" dirty="0"/>
              <a:t>Secure record storage</a:t>
            </a:r>
            <a:endParaRPr lang="en-IN" sz="1600" dirty="0"/>
          </a:p>
          <a:p>
            <a:endParaRPr lang="en-IN" sz="1600" dirty="0"/>
          </a:p>
          <a:p>
            <a:r>
              <a:rPr lang="en-IN" sz="1600" dirty="0"/>
              <a:t>Increased institutional efficiency</a:t>
            </a:r>
            <a:endParaRPr lang="en-IN" sz="1600"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701356"/>
            <a:ext cx="7696200" cy="685800"/>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Conclusion and Future Scope</a:t>
            </a:r>
            <a:endParaRPr lang="en-IN" sz="28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228600" y="1676399"/>
            <a:ext cx="8839200" cy="5089525"/>
          </a:xfrm>
        </p:spPr>
        <p:txBody>
          <a:bodyPr>
            <a:normAutofit/>
          </a:bodyPr>
          <a:lstStyle/>
          <a:p>
            <a:pPr marL="0" indent="0">
              <a:buNone/>
            </a:pPr>
            <a:r>
              <a:rPr lang="en-IN" sz="1700" b="1" dirty="0"/>
              <a:t>Conclusion</a:t>
            </a:r>
            <a:endParaRPr lang="en-IN" sz="1700" dirty="0"/>
          </a:p>
          <a:p>
            <a:r>
              <a:rPr lang="en-IN" sz="1700" dirty="0"/>
              <a:t>Automates attendance management. </a:t>
            </a:r>
            <a:endParaRPr lang="en-IN" sz="1700" dirty="0"/>
          </a:p>
          <a:p>
            <a:r>
              <a:rPr lang="en-IN" sz="1700" dirty="0"/>
              <a:t>Reduces errors and paperwork. </a:t>
            </a:r>
            <a:endParaRPr lang="en-IN" sz="1700" dirty="0"/>
          </a:p>
          <a:p>
            <a:r>
              <a:rPr lang="en-IN" sz="1700" dirty="0"/>
              <a:t>Improves accuracy and efficiency. </a:t>
            </a:r>
            <a:endParaRPr lang="en-IN" sz="1700" dirty="0"/>
          </a:p>
          <a:p>
            <a:r>
              <a:rPr lang="en-IN" sz="1700" dirty="0"/>
              <a:t>Provides secure and centralized records. </a:t>
            </a:r>
            <a:br>
              <a:rPr lang="en-IN" sz="1700" dirty="0"/>
            </a:br>
            <a:endParaRPr lang="en-IN" sz="1700" dirty="0"/>
          </a:p>
          <a:p>
            <a:pPr marL="0" indent="0">
              <a:buNone/>
            </a:pPr>
            <a:r>
              <a:rPr lang="en-IN" sz="1700" b="1" dirty="0"/>
              <a:t>Future Scope</a:t>
            </a:r>
            <a:endParaRPr lang="en-IN" sz="1700" dirty="0"/>
          </a:p>
          <a:p>
            <a:r>
              <a:rPr lang="en-IN" sz="1700" dirty="0"/>
              <a:t>QR Code Attendance </a:t>
            </a:r>
            <a:endParaRPr lang="en-IN" sz="1700" dirty="0"/>
          </a:p>
          <a:p>
            <a:r>
              <a:rPr lang="en-IN" sz="1700" dirty="0"/>
              <a:t>Face Recognition Integration </a:t>
            </a:r>
            <a:endParaRPr lang="en-IN" sz="1700" dirty="0"/>
          </a:p>
          <a:p>
            <a:r>
              <a:rPr lang="en-IN" sz="1700" dirty="0"/>
              <a:t>Mobile App Development </a:t>
            </a:r>
            <a:endParaRPr lang="en-IN" sz="1700" dirty="0"/>
          </a:p>
          <a:p>
            <a:r>
              <a:rPr lang="en-IN" sz="1700" dirty="0"/>
              <a:t>Parent Notifications </a:t>
            </a:r>
            <a:endParaRPr lang="en-IN" sz="1700" dirty="0"/>
          </a:p>
          <a:p>
            <a:r>
              <a:rPr lang="en-IN" sz="1700" dirty="0"/>
              <a:t>Cloud Storage </a:t>
            </a:r>
            <a:endParaRPr lang="en-IN" sz="1700" dirty="0"/>
          </a:p>
          <a:p>
            <a:r>
              <a:rPr lang="en-IN" sz="1700" dirty="0"/>
              <a:t>AI-based Analytics &amp; Prediction</a:t>
            </a:r>
            <a:endParaRPr lang="en-IN" sz="1700" dirty="0"/>
          </a:p>
          <a:p>
            <a:endParaRPr lang="en-US" dirty="0"/>
          </a:p>
        </p:txBody>
      </p:sp>
      <p:pic>
        <p:nvPicPr>
          <p:cNvPr id="3" name="Picture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p:txBody>
          <a:bodyPr>
            <a:normAutofit/>
          </a:bodyPr>
          <a:lstStyle/>
          <a:p>
            <a:r>
              <a:rPr lang="en-IN" dirty="0"/>
              <a:t>ChatGPT</a:t>
            </a:r>
            <a:endParaRPr lang="en-IN" dirty="0"/>
          </a:p>
          <a:p>
            <a:pPr marL="0" indent="0">
              <a:buNone/>
            </a:pPr>
            <a:r>
              <a:rPr lang="en-IN" dirty="0"/>
              <a:t>Languages used:</a:t>
            </a:r>
            <a:endParaRPr lang="en-IN" dirty="0"/>
          </a:p>
          <a:p>
            <a:r>
              <a:rPr lang="en-IN" dirty="0"/>
              <a:t>HTML</a:t>
            </a:r>
            <a:endParaRPr lang="en-IN" dirty="0"/>
          </a:p>
          <a:p>
            <a:r>
              <a:rPr lang="en-IN" dirty="0"/>
              <a:t>CSS</a:t>
            </a:r>
            <a:endParaRPr lang="en-IN" dirty="0"/>
          </a:p>
          <a:p>
            <a:r>
              <a:rPr lang="en-IN" dirty="0"/>
              <a:t>Java Script</a:t>
            </a:r>
            <a:endParaRPr lang="en-IN" dirty="0"/>
          </a:p>
          <a:p>
            <a:r>
              <a:rPr lang="en-IN" dirty="0"/>
              <a:t>SQL</a:t>
            </a:r>
            <a:endParaRPr lang="en-IN" dirty="0"/>
          </a:p>
          <a:p>
            <a:r>
              <a:rPr lang="en-IN" dirty="0"/>
              <a:t>Boot Strap</a:t>
            </a:r>
            <a:endParaRPr lang="en-IN"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8318</Words>
  <Application>WPS Presentation</Application>
  <PresentationFormat>On-screen Show (4:3)</PresentationFormat>
  <Paragraphs>241</Paragraphs>
  <Slides>15</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Arial</vt:lpstr>
      <vt:lpstr>SimSun</vt:lpstr>
      <vt:lpstr>Wingdings</vt:lpstr>
      <vt:lpstr>Times New Roman</vt:lpstr>
      <vt:lpstr>Aptos</vt:lpstr>
      <vt:lpstr>Calibri</vt:lpstr>
      <vt:lpstr>Segoe UI</vt:lpstr>
      <vt:lpstr>Microsoft YaHei</vt:lpstr>
      <vt:lpstr>Arial Unicode MS</vt:lpstr>
      <vt:lpstr>Office Theme</vt:lpstr>
      <vt:lpstr>   Department of Computer Science and Engineering  A Project Review Meeting    on Student Attendance Tracking Management System  </vt:lpstr>
      <vt:lpstr>Outline of the Presentation</vt:lpstr>
      <vt:lpstr>Abstract</vt:lpstr>
      <vt:lpstr>Introduction</vt:lpstr>
      <vt:lpstr>PowerPoint 演示文稿</vt:lpstr>
      <vt:lpstr>PowerPoint 演示文稿</vt:lpstr>
      <vt:lpstr>PowerPoint 演示文稿</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satis</cp:lastModifiedBy>
  <cp:revision>204</cp:revision>
  <dcterms:created xsi:type="dcterms:W3CDTF">2006-08-16T00:00:00Z</dcterms:created>
  <dcterms:modified xsi:type="dcterms:W3CDTF">2026-06-19T03:51:51Z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F5784F73AE984733A7132355B154CE0C_13</vt:lpwstr>
  </property>
  <property fmtid="{D5CDD505-2E9C-101B-9397-08002B2CF9AE}" pid="3" name="KSOProductBuildVer">
    <vt:lpwstr>1033-12.1.0.26880</vt:lpwstr>
  </property>
</Properties>
</file>